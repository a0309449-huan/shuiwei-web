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178"/>
    <a:srgbClr val="8CC7DC"/>
    <a:srgbClr val="F1C856"/>
    <a:srgbClr val="A0BF7B"/>
    <a:srgbClr val="AEB3B3"/>
    <a:srgbClr val="FCF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94" y="-6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5B90819-86D0-4734-A91C-78844BF7F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400" y="11437600"/>
            <a:ext cx="17107200" cy="4373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8659DBB-A309-465A-B25D-2F5A9E88E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7600" y="16651800"/>
            <a:ext cx="14968800" cy="336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E6DD2D1-934C-406F-AEAD-3335629B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400" y="12615000"/>
            <a:ext cx="17107200" cy="5046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44F8C7-8F88-465C-83C0-6BDD2AFD2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77BE2E4-FE6D-44EF-AB26-205CAC3CD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189783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19D1E52-A305-4E61-8B59-F38E1AC5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D6FD2FB-9804-492A-B031-F036DB061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333AA3B-5629-4F2B-8129-7A2F5EB5645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3602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B020CF-2B4E-4EC0-B030-59277AC1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0" y="2354800"/>
            <a:ext cx="18978300" cy="37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506E2E3-7103-4B3F-B284-D6AA4D6D7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850" y="8410000"/>
            <a:ext cx="8820900" cy="18838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35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70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004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5393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0739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6085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1431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677750" indent="-400950" algn="l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C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5F1C550-D0A4-62D7-3A00-8EC7CA68FFC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t="59619"/>
          <a:stretch>
            <a:fillRect/>
          </a:stretch>
        </p:blipFill>
        <p:spPr>
          <a:xfrm>
            <a:off x="0" y="18049875"/>
            <a:ext cx="21384000" cy="122232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DC7ECBC-B77C-4FA1-8922-8FEB02D8504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/>
        </p:blipFill>
        <p:spPr>
          <a:xfrm>
            <a:off x="0" y="-1"/>
            <a:ext cx="21384000" cy="77819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0698239-000F-414B-9C8D-D591AED7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01"/>
          <a:stretch>
            <a:fillRect/>
          </a:stretch>
        </p:blipFill>
        <p:spPr>
          <a:xfrm>
            <a:off x="742950" y="9442998"/>
            <a:ext cx="9039226" cy="4888404"/>
          </a:xfrm>
          <a:prstGeom prst="rect">
            <a:avLst/>
          </a:prstGeom>
          <a:solidFill>
            <a:srgbClr val="FCF9F2"/>
          </a:solidFill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ECED1961-16A5-F447-38FE-8FA878B13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020" y="75666"/>
            <a:ext cx="5272763" cy="1211949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AA951C55-3BE6-5D71-04D7-70E81C09283A}"/>
              </a:ext>
            </a:extLst>
          </p:cNvPr>
          <p:cNvSpPr>
            <a:spLocks noGrp="1"/>
          </p:cNvSpPr>
          <p:nvPr/>
        </p:nvSpPr>
        <p:spPr>
          <a:xfrm>
            <a:off x="838201" y="3586863"/>
            <a:ext cx="16192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000" b="1">
                <a:solidFill>
                  <a:srgbClr val="80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02060"/>
                </a:solidFill>
                <a:effectLst>
                  <a:glow rad="76200">
                    <a:schemeClr val="bg1"/>
                  </a:glow>
                </a:effectLst>
                <a:latin typeface="Microsoft JhengHei"/>
                <a:ea typeface="Microsoft JhengHei"/>
                <a:cs typeface="Microsoft JhengHei"/>
              </a:rPr>
              <a:t>濁水溪水尾堤段整體環境營造</a:t>
            </a:r>
            <a:r>
              <a:rPr lang="zh-TW" altLang="en-US" sz="3000" b="1">
                <a:solidFill>
                  <a:srgbClr val="002060"/>
                </a:solidFill>
                <a:effectLst>
                  <a:glow rad="76200">
                    <a:schemeClr val="bg1"/>
                  </a:glow>
                </a:effectLst>
                <a:latin typeface="Microsoft JhengHei"/>
                <a:ea typeface="Microsoft JhengHei"/>
                <a:cs typeface="Microsoft JhengHei"/>
              </a:rPr>
              <a:t>工程</a:t>
            </a:r>
            <a:endParaRPr sz="3000" b="1">
              <a:solidFill>
                <a:srgbClr val="002060"/>
              </a:solidFill>
              <a:effectLst>
                <a:glow rad="76200">
                  <a:schemeClr val="bg1"/>
                </a:glow>
              </a:effectLst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EE7778E-F4CD-EAED-D5CE-A2445C828530}"/>
              </a:ext>
            </a:extLst>
          </p:cNvPr>
          <p:cNvSpPr>
            <a:spLocks noGrp="1"/>
          </p:cNvSpPr>
          <p:nvPr/>
        </p:nvSpPr>
        <p:spPr>
          <a:xfrm>
            <a:off x="742950" y="4105275"/>
            <a:ext cx="169545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rPr>
              <a:t>百年堤防活化</a:t>
            </a:r>
            <a:r>
              <a:rPr lang="en-US" altLang="zh-TW"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rPr>
              <a:t>-</a:t>
            </a:r>
            <a:r>
              <a:rPr lang="zh-TW" altLang="en-US" sz="9300" b="1">
                <a:solidFill>
                  <a:srgbClr val="382C2A"/>
                </a:solidFill>
                <a:latin typeface="Microsoft JhengHei"/>
                <a:ea typeface="Microsoft JhengHei"/>
                <a:cs typeface="Microsoft JhengHei"/>
              </a:rPr>
              <a:t>水尾堤防</a:t>
            </a:r>
            <a:endParaRPr sz="9300" b="1">
              <a:solidFill>
                <a:srgbClr val="382C2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0C7B70E-1327-C3FF-14B3-06CC3546160C}"/>
              </a:ext>
            </a:extLst>
          </p:cNvPr>
          <p:cNvSpPr>
            <a:spLocks noGrp="1"/>
          </p:cNvSpPr>
          <p:nvPr/>
        </p:nvSpPr>
        <p:spPr>
          <a:xfrm>
            <a:off x="857250" y="5572125"/>
            <a:ext cx="24574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rPr>
              <a:t>規劃願景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E7E32E8-45F1-4C3D-2228-184AB15D2B08}"/>
              </a:ext>
            </a:extLst>
          </p:cNvPr>
          <p:cNvSpPr>
            <a:spLocks noGrp="1"/>
          </p:cNvSpPr>
          <p:nvPr/>
        </p:nvSpPr>
        <p:spPr>
          <a:xfrm>
            <a:off x="857250" y="6381750"/>
            <a:ext cx="819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00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rPr>
              <a:t>留住治水記憶，走進河岸日常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AB9D5B1-4ED7-A37D-8582-04D81E72F534}"/>
              </a:ext>
            </a:extLst>
          </p:cNvPr>
          <p:cNvSpPr>
            <a:spLocks noGrp="1"/>
          </p:cNvSpPr>
          <p:nvPr/>
        </p:nvSpPr>
        <p:spPr>
          <a:xfrm>
            <a:off x="857249" y="7124700"/>
            <a:ext cx="9039225" cy="23955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 algn="just">
              <a:buFont typeface="Wingdings" panose="05000000000000000000" pitchFamily="2" charset="2"/>
              <a:buChar char="l"/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/>
              <a:t>堤防不僅是防洪設施，更成為承載歷史、教育與文化傳承的場域，以水尾堤防百年歷史變遷，透過「人、水、神」三者互動</a:t>
            </a:r>
            <a:r>
              <a:rPr lang="zh-TW" altLang="en-US" sz="2800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rPr>
              <a:t>，形成連續的「走讀軸線」。</a:t>
            </a:r>
            <a:endParaRPr lang="en-US" sz="2800" b="0">
              <a:solidFill>
                <a:srgbClr val="443E38"/>
              </a:solidFill>
              <a:latin typeface="Microsoft JhengHei"/>
              <a:ea typeface="Microsoft JhengHei"/>
              <a:cs typeface="Microsoft JhengHei"/>
            </a:endParaRPr>
          </a:p>
          <a:p>
            <a:pPr marL="457200" indent="-457200">
              <a:buFont typeface="Wingdings" panose="05000000000000000000" pitchFamily="2" charset="2"/>
              <a:buChar char="l"/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/>
              <a:t>保留傳統工法，結合步行、休憩及文化導覽，</a:t>
            </a:r>
            <a:r>
              <a:rPr sz="2800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rPr>
              <a:t>讓百年舊堤成為認識地方故事的戶外說書教室。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D9364C3-C025-BF25-647E-136505B9FA95}"/>
              </a:ext>
            </a:extLst>
          </p:cNvPr>
          <p:cNvSpPr>
            <a:spLocks noGrp="1"/>
          </p:cNvSpPr>
          <p:nvPr/>
        </p:nvSpPr>
        <p:spPr>
          <a:xfrm>
            <a:off x="11656448" y="5538055"/>
            <a:ext cx="3790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8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rPr>
              <a:t>水文化與信仰</a:t>
            </a:r>
            <a:endParaRPr sz="4800" b="1">
              <a:solidFill>
                <a:srgbClr val="8B503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33EDD1E-1782-85F3-40A8-32FF530C494B}"/>
              </a:ext>
            </a:extLst>
          </p:cNvPr>
          <p:cNvSpPr>
            <a:spLocks noGrp="1"/>
          </p:cNvSpPr>
          <p:nvPr/>
        </p:nvSpPr>
        <p:spPr>
          <a:xfrm>
            <a:off x="11656449" y="6300055"/>
            <a:ext cx="819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000"/>
              <a:t>歷史設施</a:t>
            </a:r>
            <a:endParaRPr lang="en-US" altLang="zh-TW" sz="4000"/>
          </a:p>
        </p:txBody>
      </p:sp>
      <p:pic>
        <p:nvPicPr>
          <p:cNvPr id="152" name="圖片 151">
            <a:extLst>
              <a:ext uri="{FF2B5EF4-FFF2-40B4-BE49-F238E27FC236}">
                <a16:creationId xmlns:a16="http://schemas.microsoft.com/office/drawing/2014/main" id="{A033812F-B121-1A3D-532B-C4A0EF9EDD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852" b="9368"/>
          <a:stretch>
            <a:fillRect/>
          </a:stretch>
        </p:blipFill>
        <p:spPr bwMode="auto">
          <a:xfrm>
            <a:off x="10622985" y="6961726"/>
            <a:ext cx="2520000" cy="19877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3" name="圖片 152">
            <a:extLst>
              <a:ext uri="{FF2B5EF4-FFF2-40B4-BE49-F238E27FC236}">
                <a16:creationId xmlns:a16="http://schemas.microsoft.com/office/drawing/2014/main" id="{53D1083F-54CE-AA83-5584-BB40729BC3D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262609" y="7921750"/>
            <a:ext cx="2520000" cy="19154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4" name="圖片 153">
            <a:extLst>
              <a:ext uri="{FF2B5EF4-FFF2-40B4-BE49-F238E27FC236}">
                <a16:creationId xmlns:a16="http://schemas.microsoft.com/office/drawing/2014/main" id="{895B1800-3672-7B68-4F04-4542CB45335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902233" y="7235270"/>
            <a:ext cx="2520000" cy="17141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5" name="圖片 154" descr="濁水溪渡河竹筏照片">
            <a:extLst>
              <a:ext uri="{FF2B5EF4-FFF2-40B4-BE49-F238E27FC236}">
                <a16:creationId xmlns:a16="http://schemas.microsoft.com/office/drawing/2014/main" id="{343D7785-E4B7-478A-9B1A-FC38D941B4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541857" y="7921750"/>
            <a:ext cx="2520000" cy="1728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435820DD-86E0-C638-9CA0-21255D1057E9}"/>
              </a:ext>
            </a:extLst>
          </p:cNvPr>
          <p:cNvSpPr>
            <a:spLocks noGrp="1"/>
          </p:cNvSpPr>
          <p:nvPr/>
        </p:nvSpPr>
        <p:spPr>
          <a:xfrm>
            <a:off x="11208773" y="8982484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西螺大橋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27A14A9B-ADF5-E7A4-2CED-56AF053D6F51}"/>
              </a:ext>
            </a:extLst>
          </p:cNvPr>
          <p:cNvSpPr>
            <a:spLocks noGrp="1"/>
          </p:cNvSpPr>
          <p:nvPr/>
        </p:nvSpPr>
        <p:spPr>
          <a:xfrm>
            <a:off x="13770998" y="7483225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莿仔埤圳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15A4A347-AE8D-0E19-D6BE-E46709E5152E}"/>
              </a:ext>
            </a:extLst>
          </p:cNvPr>
          <p:cNvSpPr>
            <a:spLocks noGrp="1"/>
          </p:cNvSpPr>
          <p:nvPr/>
        </p:nvSpPr>
        <p:spPr>
          <a:xfrm>
            <a:off x="16419283" y="8943643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溪州糖廠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FBB4375-4118-3B09-A6D2-24E477A15849}"/>
              </a:ext>
            </a:extLst>
          </p:cNvPr>
          <p:cNvSpPr>
            <a:spLocks noGrp="1"/>
          </p:cNvSpPr>
          <p:nvPr/>
        </p:nvSpPr>
        <p:spPr>
          <a:xfrm>
            <a:off x="19231124" y="7497468"/>
            <a:ext cx="1141465" cy="3957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渡船頭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grpSp>
        <p:nvGrpSpPr>
          <p:cNvPr id="207" name="群組 206">
            <a:extLst>
              <a:ext uri="{FF2B5EF4-FFF2-40B4-BE49-F238E27FC236}">
                <a16:creationId xmlns:a16="http://schemas.microsoft.com/office/drawing/2014/main" id="{6AF50C42-E75D-DC17-5C27-85D7DC6A19DF}"/>
              </a:ext>
            </a:extLst>
          </p:cNvPr>
          <p:cNvGrpSpPr/>
          <p:nvPr/>
        </p:nvGrpSpPr>
        <p:grpSpPr>
          <a:xfrm>
            <a:off x="366843" y="14331402"/>
            <a:ext cx="11004914" cy="7422588"/>
            <a:chOff x="596536" y="14316535"/>
            <a:chExt cx="11045125" cy="7577151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CFED5D5F-FEE3-AD65-0789-BA124C01BC4C}"/>
                </a:ext>
              </a:extLst>
            </p:cNvPr>
            <p:cNvSpPr/>
            <p:nvPr/>
          </p:nvSpPr>
          <p:spPr>
            <a:xfrm>
              <a:off x="647337" y="15029336"/>
              <a:ext cx="3835400" cy="361950"/>
            </a:xfrm>
            <a:prstGeom prst="rect">
              <a:avLst/>
            </a:prstGeom>
            <a:solidFill>
              <a:srgbClr val="A0BF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>
                  <a:solidFill>
                    <a:schemeClr val="tx1"/>
                  </a:solidFill>
                </a:rPr>
                <a:t>路廊繁生、自然樣貌</a:t>
              </a: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BD0074ED-5438-B13A-3F0B-45EFECB94A26}"/>
                </a:ext>
              </a:extLst>
            </p:cNvPr>
            <p:cNvSpPr/>
            <p:nvPr/>
          </p:nvSpPr>
          <p:spPr>
            <a:xfrm>
              <a:off x="4482736" y="15029336"/>
              <a:ext cx="3463925" cy="361950"/>
            </a:xfrm>
            <a:prstGeom prst="rect">
              <a:avLst/>
            </a:prstGeom>
            <a:solidFill>
              <a:srgbClr val="F1C8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>
                  <a:solidFill>
                    <a:schemeClr val="tx1"/>
                  </a:solidFill>
                </a:rPr>
                <a:t>神祇庇佑、防洪護民</a:t>
              </a:r>
            </a:p>
          </p:txBody>
        </p:sp>
        <p:pic>
          <p:nvPicPr>
            <p:cNvPr id="174" name="圖片 173">
              <a:extLst>
                <a:ext uri="{FF2B5EF4-FFF2-40B4-BE49-F238E27FC236}">
                  <a16:creationId xmlns:a16="http://schemas.microsoft.com/office/drawing/2014/main" id="{328B114A-B680-4234-DA4C-5D6EC3F73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6536" y="15334136"/>
              <a:ext cx="11045125" cy="6559550"/>
            </a:xfrm>
            <a:prstGeom prst="rect">
              <a:avLst/>
            </a:prstGeom>
          </p:spPr>
        </p:pic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E3B0D97B-B128-648D-8063-110CD1B82E79}"/>
                </a:ext>
              </a:extLst>
            </p:cNvPr>
            <p:cNvSpPr/>
            <p:nvPr/>
          </p:nvSpPr>
          <p:spPr>
            <a:xfrm>
              <a:off x="7946661" y="15029336"/>
              <a:ext cx="3695000" cy="361950"/>
            </a:xfrm>
            <a:prstGeom prst="rect">
              <a:avLst/>
            </a:prstGeom>
            <a:solidFill>
              <a:srgbClr val="8CC7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>
                  <a:solidFill>
                    <a:schemeClr val="tx1"/>
                  </a:solidFill>
                </a:rPr>
                <a:t>百川灌溉、廟宇寧心</a:t>
              </a: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FE525A2C-45F4-9D01-B088-25AD579608A6}"/>
                </a:ext>
              </a:extLst>
            </p:cNvPr>
            <p:cNvSpPr txBox="1"/>
            <p:nvPr/>
          </p:nvSpPr>
          <p:spPr>
            <a:xfrm>
              <a:off x="8804146" y="14321450"/>
              <a:ext cx="19800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/>
                <a:t>第一回</a:t>
              </a:r>
              <a:r>
                <a:rPr lang="zh-TW" altLang="en-US" sz="4000" b="1">
                  <a:solidFill>
                    <a:srgbClr val="254178"/>
                  </a:solidFill>
                </a:rPr>
                <a:t>初源</a:t>
              </a:r>
              <a:endParaRPr lang="zh-TW" altLang="en-US" b="1">
                <a:solidFill>
                  <a:srgbClr val="254178"/>
                </a:solidFill>
              </a:endParaRP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934E4112-301D-F133-C8C9-1D68A16A8B24}"/>
                </a:ext>
              </a:extLst>
            </p:cNvPr>
            <p:cNvSpPr txBox="1"/>
            <p:nvPr/>
          </p:nvSpPr>
          <p:spPr>
            <a:xfrm>
              <a:off x="5224683" y="14316535"/>
              <a:ext cx="19800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/>
                <a:t>第二回</a:t>
              </a:r>
              <a:r>
                <a:rPr lang="zh-TW" altLang="en-US" sz="4000" b="1">
                  <a:solidFill>
                    <a:srgbClr val="C00000"/>
                  </a:solidFill>
                </a:rPr>
                <a:t>渡守</a:t>
              </a:r>
              <a:endParaRPr lang="zh-TW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1" name="文字方塊 180">
              <a:extLst>
                <a:ext uri="{FF2B5EF4-FFF2-40B4-BE49-F238E27FC236}">
                  <a16:creationId xmlns:a16="http://schemas.microsoft.com/office/drawing/2014/main" id="{78F6C77B-1D2F-4E51-9CBA-96CBE7932730}"/>
                </a:ext>
              </a:extLst>
            </p:cNvPr>
            <p:cNvSpPr txBox="1"/>
            <p:nvPr/>
          </p:nvSpPr>
          <p:spPr>
            <a:xfrm>
              <a:off x="1575022" y="14325236"/>
              <a:ext cx="19800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/>
                <a:t>第三回</a:t>
              </a:r>
              <a:r>
                <a:rPr lang="zh-TW" altLang="en-US" sz="4000" b="1">
                  <a:solidFill>
                    <a:schemeClr val="accent3">
                      <a:lumMod val="75000"/>
                    </a:schemeClr>
                  </a:solidFill>
                </a:rPr>
                <a:t>漫悅</a:t>
              </a:r>
              <a:endParaRPr lang="zh-TW" altLang="en-US" b="1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183" name="矩形 182">
            <a:extLst>
              <a:ext uri="{FF2B5EF4-FFF2-40B4-BE49-F238E27FC236}">
                <a16:creationId xmlns:a16="http://schemas.microsoft.com/office/drawing/2014/main" id="{F0092C46-B0C1-17CD-3D44-66DF21BC6A76}"/>
              </a:ext>
            </a:extLst>
          </p:cNvPr>
          <p:cNvSpPr>
            <a:spLocks noGrp="1"/>
          </p:cNvSpPr>
          <p:nvPr/>
        </p:nvSpPr>
        <p:spPr>
          <a:xfrm>
            <a:off x="11046849" y="9848850"/>
            <a:ext cx="819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000"/>
              <a:t>民俗文化慶典</a:t>
            </a:r>
            <a:endParaRPr lang="en-US" altLang="zh-TW" sz="4000"/>
          </a:p>
        </p:txBody>
      </p:sp>
      <p:pic>
        <p:nvPicPr>
          <p:cNvPr id="184" name="圖片 183" descr="南瑤宮笨港進香三媽愛潦溪完成人神橫渡濁水溪壯舉- YouTube">
            <a:extLst>
              <a:ext uri="{FF2B5EF4-FFF2-40B4-BE49-F238E27FC236}">
                <a16:creationId xmlns:a16="http://schemas.microsoft.com/office/drawing/2014/main" id="{ACCD7405-C4A4-83F9-025C-58F17BC90AA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22988" y="10530830"/>
            <a:ext cx="2825349" cy="18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5" name="圖片 184" descr="藝陣文化祭登場 360秒焰火秀照亮雲林夜空 - 民視新聞網">
            <a:extLst>
              <a:ext uri="{FF2B5EF4-FFF2-40B4-BE49-F238E27FC236}">
                <a16:creationId xmlns:a16="http://schemas.microsoft.com/office/drawing/2014/main" id="{5A6E5AA1-3066-A4F3-982B-552CE7D903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872198" y="10556540"/>
            <a:ext cx="3200525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圖片 185" descr="彰化溪州黑泥季重磅登場千名遊客黑泥玩到飽- 生活- 中時">
            <a:extLst>
              <a:ext uri="{FF2B5EF4-FFF2-40B4-BE49-F238E27FC236}">
                <a16:creationId xmlns:a16="http://schemas.microsoft.com/office/drawing/2014/main" id="{9ACFBC85-03AE-E2E4-933B-85FCB5F10B4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49631" y="12909181"/>
            <a:ext cx="3185625" cy="18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7" name="圖片 186" descr="泥漿拔河、西瓜橄欖球「泥巴運動會」玩超High！ - 生活- 自由時報電子報">
            <a:extLst>
              <a:ext uri="{FF2B5EF4-FFF2-40B4-BE49-F238E27FC236}">
                <a16:creationId xmlns:a16="http://schemas.microsoft.com/office/drawing/2014/main" id="{B688C714-7778-72B2-01DE-B95F57D1F9EF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08679" y="12902427"/>
            <a:ext cx="3091069" cy="18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9" name="矩形 188">
            <a:extLst>
              <a:ext uri="{FF2B5EF4-FFF2-40B4-BE49-F238E27FC236}">
                <a16:creationId xmlns:a16="http://schemas.microsoft.com/office/drawing/2014/main" id="{13ACA4FE-1F71-5583-0154-CEAE079C1D68}"/>
              </a:ext>
            </a:extLst>
          </p:cNvPr>
          <p:cNvSpPr>
            <a:spLocks noGrp="1"/>
          </p:cNvSpPr>
          <p:nvPr/>
        </p:nvSpPr>
        <p:spPr>
          <a:xfrm>
            <a:off x="10709693" y="11912619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媽祖潦溪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pic>
        <p:nvPicPr>
          <p:cNvPr id="190" name="圖片 189">
            <a:extLst>
              <a:ext uri="{FF2B5EF4-FFF2-40B4-BE49-F238E27FC236}">
                <a16:creationId xmlns:a16="http://schemas.microsoft.com/office/drawing/2014/main" id="{374BE99C-0FA8-2EB7-FD55-33F96DB020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494653" y="10530830"/>
            <a:ext cx="2705719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矩形 191">
            <a:extLst>
              <a:ext uri="{FF2B5EF4-FFF2-40B4-BE49-F238E27FC236}">
                <a16:creationId xmlns:a16="http://schemas.microsoft.com/office/drawing/2014/main" id="{50E8781A-5145-A686-15CF-90450065B8FE}"/>
              </a:ext>
            </a:extLst>
          </p:cNvPr>
          <p:cNvSpPr>
            <a:spLocks noGrp="1"/>
          </p:cNvSpPr>
          <p:nvPr/>
        </p:nvSpPr>
        <p:spPr>
          <a:xfrm>
            <a:off x="13950521" y="11912619"/>
            <a:ext cx="3491401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西螺大橋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藝陣文化祭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B55475C4-0F72-53BB-18F1-910A358C0F0D}"/>
              </a:ext>
            </a:extLst>
          </p:cNvPr>
          <p:cNvSpPr>
            <a:spLocks noGrp="1"/>
          </p:cNvSpPr>
          <p:nvPr/>
        </p:nvSpPr>
        <p:spPr>
          <a:xfrm>
            <a:off x="17570456" y="11912619"/>
            <a:ext cx="3491401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震威宮伏魔大帝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(</a:t>
            </a: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鐘馗</a:t>
            </a:r>
            <a:r>
              <a:rPr lang="en-US" altLang="zh-TW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)</a:t>
            </a: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祭祀活動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E20E83FC-57B7-4292-5641-980A08A60990}"/>
              </a:ext>
            </a:extLst>
          </p:cNvPr>
          <p:cNvSpPr>
            <a:spLocks noGrp="1"/>
          </p:cNvSpPr>
          <p:nvPr/>
        </p:nvSpPr>
        <p:spPr>
          <a:xfrm>
            <a:off x="12229137" y="14263902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黑泥季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84EDC406-D2FE-0F0E-6F9A-915922840A55}"/>
              </a:ext>
            </a:extLst>
          </p:cNvPr>
          <p:cNvSpPr>
            <a:spLocks noGrp="1"/>
          </p:cNvSpPr>
          <p:nvPr/>
        </p:nvSpPr>
        <p:spPr>
          <a:xfrm>
            <a:off x="15818778" y="14243368"/>
            <a:ext cx="1485900" cy="43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just"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>
                <a:solidFill>
                  <a:srgbClr val="C00000"/>
                </a:solidFill>
                <a:effectLst>
                  <a:glow rad="63500">
                    <a:schemeClr val="bg1"/>
                  </a:glow>
                </a:effectLst>
              </a:rPr>
              <a:t>提拔泥</a:t>
            </a:r>
            <a:endParaRPr lang="en-US" altLang="zh-TW" sz="2800" b="1">
              <a:solidFill>
                <a:srgbClr val="C00000"/>
              </a:solidFill>
              <a:effectLst>
                <a:glow rad="63500">
                  <a:schemeClr val="bg1"/>
                </a:glow>
              </a:effectLst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8E96E6AF-A8D0-A6F8-B1DD-E64313478FB0}"/>
              </a:ext>
            </a:extLst>
          </p:cNvPr>
          <p:cNvSpPr>
            <a:spLocks noGrp="1"/>
          </p:cNvSpPr>
          <p:nvPr/>
        </p:nvSpPr>
        <p:spPr>
          <a:xfrm>
            <a:off x="11586759" y="14830261"/>
            <a:ext cx="819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000"/>
              <a:t>水之信仰</a:t>
            </a:r>
            <a:endParaRPr lang="en-US" altLang="zh-TW" sz="4000"/>
          </a:p>
        </p:txBody>
      </p:sp>
      <p:pic>
        <p:nvPicPr>
          <p:cNvPr id="201" name="圖片 200">
            <a:extLst>
              <a:ext uri="{FF2B5EF4-FFF2-40B4-BE49-F238E27FC236}">
                <a16:creationId xmlns:a16="http://schemas.microsoft.com/office/drawing/2014/main" id="{7161D37C-4447-1CDB-1C67-A51EA0C68FA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8" b="1884"/>
          <a:stretch>
            <a:fillRect/>
          </a:stretch>
        </p:blipFill>
        <p:spPr bwMode="auto">
          <a:xfrm>
            <a:off x="11615591" y="15429135"/>
            <a:ext cx="9401191" cy="61211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3" name="矩形 202">
            <a:extLst>
              <a:ext uri="{FF2B5EF4-FFF2-40B4-BE49-F238E27FC236}">
                <a16:creationId xmlns:a16="http://schemas.microsoft.com/office/drawing/2014/main" id="{985A928B-BD3A-43ED-AB17-B452D5E4B336}"/>
              </a:ext>
            </a:extLst>
          </p:cNvPr>
          <p:cNvSpPr>
            <a:spLocks noGrp="1"/>
          </p:cNvSpPr>
          <p:nvPr/>
        </p:nvSpPr>
        <p:spPr>
          <a:xfrm>
            <a:off x="366843" y="22248304"/>
            <a:ext cx="3790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800"/>
              <a:t>議題圖資地圖</a:t>
            </a:r>
            <a:endParaRPr sz="4800" b="1">
              <a:solidFill>
                <a:srgbClr val="8B503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7F5F0A4-536E-2D6C-34E1-46F4D3CCC23F}"/>
              </a:ext>
            </a:extLst>
          </p:cNvPr>
          <p:cNvSpPr>
            <a:spLocks noGrp="1"/>
          </p:cNvSpPr>
          <p:nvPr/>
        </p:nvSpPr>
        <p:spPr>
          <a:xfrm>
            <a:off x="11586759" y="21707820"/>
            <a:ext cx="3790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8B50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000">
                <a:solidFill>
                  <a:srgbClr val="4B3530"/>
                </a:solidFill>
              </a:rPr>
              <a:t>傳統歷史工法</a:t>
            </a:r>
            <a:endParaRPr sz="4000">
              <a:solidFill>
                <a:srgbClr val="4B3530"/>
              </a:solidFill>
            </a:endParaRPr>
          </a:p>
        </p:txBody>
      </p:sp>
      <p:pic>
        <p:nvPicPr>
          <p:cNvPr id="206" name="圖片 205">
            <a:extLst>
              <a:ext uri="{FF2B5EF4-FFF2-40B4-BE49-F238E27FC236}">
                <a16:creationId xmlns:a16="http://schemas.microsoft.com/office/drawing/2014/main" id="{0CCD08D2-6EFF-E0ED-8AF9-23A8EE0D198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4124"/>
          <a:stretch>
            <a:fillRect/>
          </a:stretch>
        </p:blipFill>
        <p:spPr bwMode="auto">
          <a:xfrm>
            <a:off x="11615591" y="22326946"/>
            <a:ext cx="9401191" cy="56209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4" name="矩形 213">
            <a:extLst>
              <a:ext uri="{FF2B5EF4-FFF2-40B4-BE49-F238E27FC236}">
                <a16:creationId xmlns:a16="http://schemas.microsoft.com/office/drawing/2014/main" id="{0B39C01C-DA49-B50B-6DC1-D8B643A86AA4}"/>
              </a:ext>
            </a:extLst>
          </p:cNvPr>
          <p:cNvSpPr>
            <a:spLocks noGrp="1"/>
          </p:cNvSpPr>
          <p:nvPr/>
        </p:nvSpPr>
        <p:spPr>
          <a:xfrm>
            <a:off x="366844" y="23150513"/>
            <a:ext cx="819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4000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rPr>
              <a:t>探索百年堤防之水文化與信仰</a:t>
            </a:r>
            <a:endParaRPr sz="4000" b="1">
              <a:solidFill>
                <a:srgbClr val="4B35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6D824453-0E58-A59F-006D-F7055FF09248}"/>
              </a:ext>
            </a:extLst>
          </p:cNvPr>
          <p:cNvSpPr>
            <a:spLocks noGrp="1"/>
          </p:cNvSpPr>
          <p:nvPr/>
        </p:nvSpPr>
        <p:spPr>
          <a:xfrm>
            <a:off x="366843" y="23893463"/>
            <a:ext cx="10150549" cy="23955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 algn="just">
              <a:buFont typeface="Wingdings" panose="05000000000000000000" pitchFamily="2" charset="2"/>
              <a:buChar char="l"/>
              <a:defRPr sz="2925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0">
                <a:solidFill>
                  <a:srgbClr val="443E38"/>
                </a:solidFill>
                <a:latin typeface="Microsoft JhengHei"/>
                <a:ea typeface="Microsoft JhengHei"/>
                <a:cs typeface="Microsoft JhengHei"/>
              </a:rPr>
              <a:t>整合百年堤防周邊的水文化、地方信仰與設施資訊，透過線上地圖包，了解各處特色及位置，認識堤防與地方生活的連結。</a:t>
            </a:r>
            <a:endParaRPr sz="2800" b="0">
              <a:solidFill>
                <a:srgbClr val="443E3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220" name="圖片 21">
            <a:extLst>
              <a:ext uri="{FF2B5EF4-FFF2-40B4-BE49-F238E27FC236}">
                <a16:creationId xmlns:a16="http://schemas.microsoft.com/office/drawing/2014/main" id="{BC43DEED-D9AE-AA4B-6550-193FD6B8819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984" y="24918799"/>
            <a:ext cx="2502277" cy="25022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" name="矩形 221">
            <a:extLst>
              <a:ext uri="{FF2B5EF4-FFF2-40B4-BE49-F238E27FC236}">
                <a16:creationId xmlns:a16="http://schemas.microsoft.com/office/drawing/2014/main" id="{C16A0F5A-E2B8-5D2F-94CD-73C3FA7681D3}"/>
              </a:ext>
            </a:extLst>
          </p:cNvPr>
          <p:cNvSpPr>
            <a:spLocks noGrp="1"/>
          </p:cNvSpPr>
          <p:nvPr/>
        </p:nvSpPr>
        <p:spPr>
          <a:xfrm>
            <a:off x="8635320" y="27517884"/>
            <a:ext cx="2777154" cy="3001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defRPr sz="4725" b="1">
                <a:solidFill>
                  <a:srgbClr val="4B35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000">
                <a:solidFill>
                  <a:schemeClr val="tx1"/>
                </a:solidFill>
              </a:rPr>
              <a:t>掃一掃，</a:t>
            </a:r>
            <a:r>
              <a:rPr lang="zh-TW" altLang="en-US" sz="2000" b="1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</a:rPr>
              <a:t>探索水尾堤坊</a:t>
            </a:r>
            <a:endParaRPr sz="2000" b="1">
              <a:solidFill>
                <a:schemeClr val="tx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226" name="圖片 225">
            <a:extLst>
              <a:ext uri="{FF2B5EF4-FFF2-40B4-BE49-F238E27FC236}">
                <a16:creationId xmlns:a16="http://schemas.microsoft.com/office/drawing/2014/main" id="{8C402BA2-513A-0FEE-A148-48DC1A08FB8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6741" y="24797577"/>
            <a:ext cx="7120249" cy="50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97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212</Words>
  <Application>Microsoft Office PowerPoint</Application>
  <DocSecurity>0</DocSecurity>
  <PresentationFormat>自訂</PresentationFormat>
  <Paragraphs>32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Microsoft JhengHei</vt:lpstr>
      <vt:lpstr>Aptos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usr</cp:lastModifiedBy>
  <cp:revision>10</cp:revision>
  <dcterms:created xsi:type="dcterms:W3CDTF">2026-10-29T00:41:38Z</dcterms:created>
  <dcterms:modified xsi:type="dcterms:W3CDTF">2026-10-29T06:56:57Z</dcterms:modified>
</cp:coreProperties>
</file>